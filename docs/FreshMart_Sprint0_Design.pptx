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25978cac-9cfa-11d0-1f3e-be46c4ca0af9}">
          <p14:sldIdLst>
            <p14:sldId id="256"/>
          </p14:sldIdLst>
        </p14:section>
        <p14:section name="Problem" id="{9d08bf96-2848-38de-e85f-64b587023d16}">
          <p14:sldIdLst>
            <p14:sldId id="257"/>
            <p14:sldId id="258"/>
            <p14:sldId id="259"/>
          </p14:sldIdLst>
        </p14:section>
        <p14:section name="Design" id="{d75cb353-6869-80b4-bd70-83581b3b2b15}">
          <p14:sldIdLst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Plan" id="{91d6887d-6f73-5e62-f927-791e1aa27fa8}">
          <p14:sldIdLst>
            <p14:sldId id="267"/>
            <p14:sldId id="268"/>
          </p14:sldIdLst>
        </p14:section>
        <p14:section name="Close" id="{14351d37-c98e-9b8d-d15b-5f98e9e37ca3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22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2A22"/>
                </a:solidFill>
                <a:latin typeface="+mn-lt"/>
              </a:rPr>
              <a:t>Store S003 revenue, 17-30 Sep (Rs thousand)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S003 daily revenue (Rs thousand)</c:v>
                </c:pt>
              </c:strCache>
            </c:strRef>
          </c:tx>
          <c:spPr>
            <a:solidFill>
              <a:srgbClr val="2E7D4F"/>
            </a:solidFill>
            <a:ln w="38100" cap="flat">
              <a:solidFill>
                <a:srgbClr val="2E7D4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2E7D4F"/>
              </a:solidFill>
              <a:ln w="9525" cap="flat">
                <a:solidFill>
                  <a:srgbClr val="2E7D4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Sheet1!$A$2:$A$15</c:f>
              <c:multiLvlStrCache>
                <c:ptCount val="14"/>
                <c:lvl>
                  <c:pt idx="0">
                    <c:v>17</c:v>
                  </c:pt>
                  <c:pt idx="1">
                    <c:v>18</c:v>
                  </c:pt>
                  <c:pt idx="2">
                    <c:v>19</c:v>
                  </c:pt>
                  <c:pt idx="3">
                    <c:v>20</c:v>
                  </c:pt>
                  <c:pt idx="4">
                    <c:v>21</c:v>
                  </c:pt>
                  <c:pt idx="5">
                    <c:v>22</c:v>
                  </c:pt>
                  <c:pt idx="6">
                    <c:v>23</c:v>
                  </c:pt>
                  <c:pt idx="7">
                    <c:v>24</c:v>
                  </c:pt>
                  <c:pt idx="8">
                    <c:v>25</c:v>
                  </c:pt>
                  <c:pt idx="9">
                    <c:v>26</c:v>
                  </c:pt>
                  <c:pt idx="10">
                    <c:v>27</c:v>
                  </c:pt>
                  <c:pt idx="11">
                    <c:v>28</c:v>
                  </c:pt>
                  <c:pt idx="12">
                    <c:v>29</c:v>
                  </c:pt>
                  <c:pt idx="13">
                    <c:v>30</c:v>
                  </c:pt>
                </c:lvl>
              </c:multiLvlStrCache>
            </c:multiLvl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163.2</c:v>
                </c:pt>
                <c:pt idx="1">
                  <c:v>174.5</c:v>
                </c:pt>
                <c:pt idx="2">
                  <c:v>174.2</c:v>
                </c:pt>
                <c:pt idx="3">
                  <c:v>158.3</c:v>
                </c:pt>
                <c:pt idx="4">
                  <c:v>169</c:v>
                </c:pt>
                <c:pt idx="5">
                  <c:v>163.2</c:v>
                </c:pt>
                <c:pt idx="6">
                  <c:v>170.3</c:v>
                </c:pt>
                <c:pt idx="7">
                  <c:v>172.6</c:v>
                </c:pt>
                <c:pt idx="8">
                  <c:v>163.9</c:v>
                </c:pt>
                <c:pt idx="9">
                  <c:v>147.9</c:v>
                </c:pt>
                <c:pt idx="10">
                  <c:v>190</c:v>
                </c:pt>
                <c:pt idx="11">
                  <c:v>170</c:v>
                </c:pt>
                <c:pt idx="12">
                  <c:v>166.5</c:v>
                </c:pt>
                <c:pt idx="13">
                  <c:v>473.1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B63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B6B63"/>
                    </a:solidFill>
                    <a:latin typeface="Arial"/>
                  </a:rPr>
                  <a:t>September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6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3EC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6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goal of this session: walk through our understanding, design and plan, and get sign-off on the MVP scope.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pain in numbers first, then the objective in one sentence. Emphasise: next-morning freshness and trusted data are the two outcomes.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Users first, then what the system must do, then the qualities it must have. The non-functional list drives our security and scaling choices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we asked about data, timing and edge cases, not about design choices. Each answer maps to a design decision on later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SMEs to confirm the MUST column. This is what we commit to demo. Nice-to-haves only if time allows.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right: files land in S3 untouched, EC2 cleans them, clean rows go to RDS, the dashboard reads only from RDS. Bad rows are kept with a reason. Then the four security and ops facts at the bottom.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line: nothing is lost silently. Loaded + rejected equals exactly the unique transactions generated. The single transaction per file means a crash mid-load is safe to rerun.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each row say: we could have used X, but because of Y we chose Z; at scale we would switch to the other option.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Fact table in the middle holds sales events; dimensions describe who and what. Point out lineage (source_file), the index and why money is DECIMAL.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 store because a big store's normal day would look like a spike for a small one. Previous days only, so today is not part of its own baseline. Result on test data: exactly the two planted problems flagged, nothing else.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Security: least privilege and nothing public. Scale: name the swap for each layer and stress that S3 stays the same.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Split by pipeline stage so we can work in parallel; the data contract is agreed in the first hour. Syncs every 45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16 automated tests already pass. Every risk has a named fallback so we never block for long.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one-line architecture and an explicit ask: confirm the MUST-HAVE scope so we can start Sprint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M 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2044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M 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FreshMart · Sprint 0 design review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FreshMart Store Performance Platform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2044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Sprint 0 · Technical design &amp; MVP plan for SME sign-off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NSUT · Team of 4</a:t>
            </a:r>
            <a:endParaRPr lang="en-US" sz="2000" dirty="0"/>
          </a:p>
        </p:txBody>
      </p:sp>
      <p:sp>
        <p:nvSpPr>
          <p:cNvPr id="4" name="pill-1"/>
          <p:cNvSpPr/>
          <p:nvPr/>
        </p:nvSpPr>
        <p:spPr>
          <a:xfrm>
            <a:off x="731520" y="1463040"/>
            <a:ext cx="2377440" cy="34747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-2"/>
          <p:cNvSpPr txBox="1"/>
          <p:nvPr/>
        </p:nvSpPr>
        <p:spPr>
          <a:xfrm>
            <a:off x="731520" y="14630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AWS · Python · MySQL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 sees store sales 2-3 days late</a:t>
            </a:r>
            <a:endParaRPr lang="en-US" sz="3600" dirty="0"/>
          </a:p>
        </p:txBody>
      </p:sp>
      <p:sp>
        <p:nvSpPr>
          <p:cNvPr id="3" name="card-3"/>
          <p:cNvSpPr/>
          <p:nvPr/>
        </p:nvSpPr>
        <p:spPr>
          <a:xfrm>
            <a:off x="548640" y="1371600"/>
            <a:ext cx="347472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-4"/>
          <p:cNvSpPr txBox="1"/>
          <p:nvPr/>
        </p:nvSpPr>
        <p:spPr>
          <a:xfrm>
            <a:off x="822960" y="160020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endParaRPr lang="en-US" sz="4800" dirty="0"/>
          </a:p>
        </p:txBody>
      </p:sp>
      <p:sp>
        <p:nvSpPr>
          <p:cNvPr id="5" name="text-5"/>
          <p:cNvSpPr txBox="1"/>
          <p:nvPr/>
        </p:nvSpPr>
        <p:spPr>
          <a:xfrm>
            <a:off x="822960" y="25146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stores email a CSV every night</a:t>
            </a:r>
            <a:endParaRPr lang="en-US" sz="1500" dirty="0"/>
          </a:p>
        </p:txBody>
      </p:sp>
      <p:sp>
        <p:nvSpPr>
          <p:cNvPr id="6" name="card-6"/>
          <p:cNvSpPr/>
          <p:nvPr/>
        </p:nvSpPr>
        <p:spPr>
          <a:xfrm>
            <a:off x="4297680" y="1371600"/>
            <a:ext cx="347472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-7"/>
          <p:cNvSpPr txBox="1"/>
          <p:nvPr/>
        </p:nvSpPr>
        <p:spPr>
          <a:xfrm>
            <a:off x="4572000" y="160020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2-3 days</a:t>
            </a:r>
            <a:endParaRPr lang="en-US" sz="4800" dirty="0"/>
          </a:p>
        </p:txBody>
      </p:sp>
      <p:sp>
        <p:nvSpPr>
          <p:cNvPr id="8" name="text-8"/>
          <p:cNvSpPr txBox="1"/>
          <p:nvPr/>
        </p:nvSpPr>
        <p:spPr>
          <a:xfrm>
            <a:off x="4572000" y="25146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to merge them by hand in Excel</a:t>
            </a:r>
            <a:endParaRPr lang="en-US" sz="1500" dirty="0"/>
          </a:p>
        </p:txBody>
      </p:sp>
      <p:sp>
        <p:nvSpPr>
          <p:cNvPr id="9" name="card-9"/>
          <p:cNvSpPr/>
          <p:nvPr/>
        </p:nvSpPr>
        <p:spPr>
          <a:xfrm>
            <a:off x="8046720" y="1371600"/>
            <a:ext cx="347472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-10"/>
          <p:cNvSpPr txBox="1"/>
          <p:nvPr/>
        </p:nvSpPr>
        <p:spPr>
          <a:xfrm>
            <a:off x="8321040" y="160020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800" dirty="0"/>
          </a:p>
        </p:txBody>
      </p:sp>
      <p:sp>
        <p:nvSpPr>
          <p:cNvPr id="11" name="text-11"/>
          <p:cNvSpPr txBox="1"/>
          <p:nvPr/>
        </p:nvSpPr>
        <p:spPr>
          <a:xfrm>
            <a:off x="8321040" y="25146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recurring data-quality problems</a:t>
            </a:r>
            <a:endParaRPr lang="en-US" sz="1500" dirty="0"/>
          </a:p>
        </p:txBody>
      </p:sp>
      <p:sp>
        <p:nvSpPr>
          <p:cNvPr id="12" name="text-12"/>
          <p:cNvSpPr txBox="1"/>
          <p:nvPr/>
        </p:nvSpPr>
        <p:spPr>
          <a:xfrm>
            <a:off x="548640" y="3566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Data issues: duplicate transactions · mixed date formats · inconsistent product names · missing values</a:t>
            </a:r>
            <a:endParaRPr lang="en-US" sz="1500" dirty="0"/>
          </a:p>
        </p:txBody>
      </p:sp>
      <p:sp>
        <p:nvSpPr>
          <p:cNvPr id="13" name="card-13"/>
          <p:cNvSpPr/>
          <p:nvPr/>
        </p:nvSpPr>
        <p:spPr>
          <a:xfrm>
            <a:off x="548640" y="4206240"/>
            <a:ext cx="11064240" cy="173736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text-14"/>
          <p:cNvSpPr txBox="1"/>
          <p:nvPr/>
        </p:nvSpPr>
        <p:spPr>
          <a:xfrm>
            <a:off x="868680" y="443484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Business objective</a:t>
            </a:r>
            <a:endParaRPr lang="en-US" sz="1600" dirty="0"/>
          </a:p>
        </p:txBody>
      </p:sp>
      <p:sp>
        <p:nvSpPr>
          <p:cNvPr id="15" name="text-15"/>
          <p:cNvSpPr txBox="1"/>
          <p:nvPr/>
        </p:nvSpPr>
        <p:spPr>
          <a:xfrm>
            <a:off x="868680" y="484632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Turn raw store files into clean, trusted, next-morning insights automatically, and flag stores whose sales are unusual so managers can act the same day.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uses it and what it must do</a:t>
            </a:r>
            <a:endParaRPr lang="en-US" sz="3600" dirty="0"/>
          </a:p>
        </p:txBody>
      </p:sp>
      <p:sp>
        <p:nvSpPr>
          <p:cNvPr id="3" name="card-16"/>
          <p:cNvSpPr/>
          <p:nvPr/>
        </p:nvSpPr>
        <p:spPr>
          <a:xfrm>
            <a:off x="548640" y="1325880"/>
            <a:ext cx="393192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-17"/>
          <p:cNvSpPr txBox="1"/>
          <p:nvPr/>
        </p:nvSpPr>
        <p:spPr>
          <a:xfrm>
            <a:off x="777240" y="15544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Store billing systems</a:t>
            </a:r>
            <a:endParaRPr lang="en-US" sz="1700" dirty="0"/>
          </a:p>
        </p:txBody>
      </p:sp>
      <p:sp>
        <p:nvSpPr>
          <p:cNvPr id="5" name="text-18"/>
          <p:cNvSpPr txBox="1"/>
          <p:nvPr/>
        </p:nvSpPr>
        <p:spPr>
          <a:xfrm>
            <a:off x="777240" y="198424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Produce one sales CSV per store per night</a:t>
            </a:r>
            <a:endParaRPr lang="en-US" sz="1400" dirty="0"/>
          </a:p>
        </p:txBody>
      </p:sp>
      <p:sp>
        <p:nvSpPr>
          <p:cNvPr id="6" name="card-19"/>
          <p:cNvSpPr/>
          <p:nvPr/>
        </p:nvSpPr>
        <p:spPr>
          <a:xfrm>
            <a:off x="548640" y="2834640"/>
            <a:ext cx="393192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-20"/>
          <p:cNvSpPr txBox="1"/>
          <p:nvPr/>
        </p:nvSpPr>
        <p:spPr>
          <a:xfrm>
            <a:off x="777240" y="3063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Regional managers &amp; head office</a:t>
            </a:r>
            <a:endParaRPr lang="en-US" sz="1700" dirty="0"/>
          </a:p>
        </p:txBody>
      </p:sp>
      <p:sp>
        <p:nvSpPr>
          <p:cNvPr id="8" name="text-21"/>
          <p:cNvSpPr txBox="1"/>
          <p:nvPr/>
        </p:nvSpPr>
        <p:spPr>
          <a:xfrm>
            <a:off x="777240" y="349300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Read the dashboard every morning, act on alerts</a:t>
            </a:r>
            <a:endParaRPr lang="en-US" sz="1400" dirty="0"/>
          </a:p>
        </p:txBody>
      </p:sp>
      <p:sp>
        <p:nvSpPr>
          <p:cNvPr id="9" name="card-22"/>
          <p:cNvSpPr/>
          <p:nvPr/>
        </p:nvSpPr>
        <p:spPr>
          <a:xfrm>
            <a:off x="548640" y="4343400"/>
            <a:ext cx="393192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-23"/>
          <p:cNvSpPr txBox="1"/>
          <p:nvPr/>
        </p:nvSpPr>
        <p:spPr>
          <a:xfrm>
            <a:off x="777240" y="4572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Data team</a:t>
            </a:r>
            <a:endParaRPr lang="en-US" sz="1700" dirty="0"/>
          </a:p>
        </p:txBody>
      </p:sp>
      <p:sp>
        <p:nvSpPr>
          <p:cNvPr id="11" name="text-24"/>
          <p:cNvSpPr txBox="1"/>
          <p:nvPr/>
        </p:nvSpPr>
        <p:spPr>
          <a:xfrm>
            <a:off x="777240" y="500176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Runs and monitors the pipeline</a:t>
            </a:r>
            <a:endParaRPr lang="en-US" sz="1400" dirty="0"/>
          </a:p>
        </p:txBody>
      </p:sp>
      <p:sp>
        <p:nvSpPr>
          <p:cNvPr id="12" name="text-25"/>
          <p:cNvSpPr txBox="1"/>
          <p:nvPr/>
        </p:nvSpPr>
        <p:spPr>
          <a:xfrm>
            <a:off x="4937760" y="1325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Functional requirements</a:t>
            </a:r>
            <a:endParaRPr lang="en-US" sz="1800" dirty="0"/>
          </a:p>
        </p:txBody>
      </p:sp>
      <p:sp>
        <p:nvSpPr>
          <p:cNvPr id="13" name="text-26"/>
          <p:cNvSpPr txBox="1"/>
          <p:nvPr/>
        </p:nvSpPr>
        <p:spPr>
          <a:xfrm>
            <a:off x="4937760" y="1874520"/>
            <a:ext cx="33832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Ingest nightly CSVs from every store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Validate, clean and de-duplicate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Store clean data in a queryable DB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Revenue by store, region, category; top products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Flag unusual store-days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Never double-count a re-uploaded file</a:t>
            </a:r>
            <a:endParaRPr lang="en-US" sz="1500" dirty="0"/>
          </a:p>
        </p:txBody>
      </p:sp>
      <p:sp>
        <p:nvSpPr>
          <p:cNvPr id="14" name="text-27"/>
          <p:cNvSpPr txBox="1"/>
          <p:nvPr/>
        </p:nvSpPr>
        <p:spPr>
          <a:xfrm>
            <a:off x="8595360" y="1325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Non-functional</a:t>
            </a:r>
            <a:endParaRPr lang="en-US" sz="1800" dirty="0"/>
          </a:p>
        </p:txBody>
      </p:sp>
      <p:sp>
        <p:nvSpPr>
          <p:cNvPr id="15" name="text-28"/>
          <p:cNvSpPr txBox="1"/>
          <p:nvPr/>
        </p:nvSpPr>
        <p:spPr>
          <a:xfrm>
            <a:off x="8595360" y="1874520"/>
            <a:ext cx="30175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Freshness: by next morning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Security: nothing public, least privilege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Reliability: bad rows never break a load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Scalable: more stores without redesign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Low cost: small instances, tear down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clarified, and what we assumed</a:t>
            </a:r>
            <a:endParaRPr lang="en-US" sz="3600" dirty="0"/>
          </a:p>
        </p:txBody>
      </p:sp>
      <p:graphicFrame>
        <p:nvGraphicFramePr>
          <p:cNvPr id="5" name="table-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73152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651760"/>
                <a:gridCol w="237744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Question we asked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SME answer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Design impact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Data volume?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~2-5k transactions per store per day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Pandas is enough, no Spark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How fresh must data be?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Next morning is fine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Nightly batch, not streaming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Is product ID always present?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Sometimes missing; names vary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Match on cleaned product name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What is 'unusual'?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Your call, justify it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Per-store z-score + 30% rule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Same file uploaded twice?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Must not double-count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Audit table + primary key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card-30"/>
          <p:cNvSpPr/>
          <p:nvPr/>
        </p:nvSpPr>
        <p:spPr>
          <a:xfrm>
            <a:off x="8229600" y="1325880"/>
            <a:ext cx="3383280" cy="3840480"/>
          </a:xfrm>
          <a:prstGeom prst="roundRect">
            <a:avLst>
              <a:gd name="adj" fmla="val 21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-31"/>
          <p:cNvSpPr txBox="1"/>
          <p:nvPr/>
        </p:nvSpPr>
        <p:spPr>
          <a:xfrm>
            <a:off x="8503920" y="15087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Assumptions</a:t>
            </a:r>
            <a:endParaRPr lang="en-US" sz="1800" dirty="0"/>
          </a:p>
        </p:txBody>
      </p:sp>
      <p:sp>
        <p:nvSpPr>
          <p:cNvPr id="6" name="text-32"/>
          <p:cNvSpPr txBox="1"/>
          <p:nvPr/>
        </p:nvSpPr>
        <p:spPr>
          <a:xfrm>
            <a:off x="8503920" y="1965960"/>
            <a:ext cx="2834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Stores upload files to S3 (we simulate it)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30 days of history available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Daily data fits in memory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Dashboard users are internal</a:t>
            </a:r>
            <a:endParaRPr lang="en-US" sz="1500" dirty="0"/>
          </a:p>
        </p:txBody>
      </p:sp>
      <p:sp>
        <p:nvSpPr>
          <p:cNvPr id="7" name="text-33"/>
          <p:cNvSpPr txBox="1"/>
          <p:nvPr/>
        </p:nvSpPr>
        <p:spPr>
          <a:xfrm>
            <a:off x="8503920" y="43891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If wrong: only ingestion or processing changes, storage and DB stay.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MVP scope: what we build today</a:t>
            </a:r>
            <a:endParaRPr lang="en-US" sz="3600" dirty="0"/>
          </a:p>
        </p:txBody>
      </p:sp>
      <p:sp>
        <p:nvSpPr>
          <p:cNvPr id="3" name="card-34"/>
          <p:cNvSpPr/>
          <p:nvPr/>
        </p:nvSpPr>
        <p:spPr>
          <a:xfrm>
            <a:off x="548640" y="1325880"/>
            <a:ext cx="3474720" cy="384048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pill-35"/>
          <p:cNvSpPr/>
          <p:nvPr/>
        </p:nvSpPr>
        <p:spPr>
          <a:xfrm>
            <a:off x="822960" y="1600200"/>
            <a:ext cx="1828800" cy="3474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-36"/>
          <p:cNvSpPr txBox="1"/>
          <p:nvPr/>
        </p:nvSpPr>
        <p:spPr>
          <a:xfrm>
            <a:off x="822960" y="16002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MUST HAVE</a:t>
            </a:r>
            <a:endParaRPr lang="en-US" sz="1200" dirty="0"/>
          </a:p>
        </p:txBody>
      </p:sp>
      <p:sp>
        <p:nvSpPr>
          <p:cNvPr id="6" name="text-37"/>
          <p:cNvSpPr txBox="1"/>
          <p:nvPr/>
        </p:nvSpPr>
        <p:spPr>
          <a:xfrm>
            <a:off x="822960" y="2240280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Raw files in S3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Pandas ETL: clean + de-duplicate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MySQL star schema on RDS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Dashboard with core views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Anomaly flags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IAM role, private database</a:t>
            </a:r>
            <a:endParaRPr lang="en-US" sz="1500" dirty="0"/>
          </a:p>
        </p:txBody>
      </p:sp>
      <p:sp>
        <p:nvSpPr>
          <p:cNvPr id="7" name="card-38"/>
          <p:cNvSpPr/>
          <p:nvPr/>
        </p:nvSpPr>
        <p:spPr>
          <a:xfrm>
            <a:off x="4297680" y="1325880"/>
            <a:ext cx="3474720" cy="384048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pill-39"/>
          <p:cNvSpPr/>
          <p:nvPr/>
        </p:nvSpPr>
        <p:spPr>
          <a:xfrm>
            <a:off x="4572000" y="1600200"/>
            <a:ext cx="1828800" cy="34747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-40"/>
          <p:cNvSpPr txBox="1"/>
          <p:nvPr/>
        </p:nvSpPr>
        <p:spPr>
          <a:xfrm>
            <a:off x="4572000" y="16002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NICE TO HAVE</a:t>
            </a:r>
            <a:endParaRPr lang="en-US" sz="1200" dirty="0"/>
          </a:p>
        </p:txBody>
      </p:sp>
      <p:sp>
        <p:nvSpPr>
          <p:cNvPr id="10" name="text-41"/>
          <p:cNvSpPr txBox="1"/>
          <p:nvPr/>
        </p:nvSpPr>
        <p:spPr>
          <a:xfrm>
            <a:off x="4572000" y="2240280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Auto-run ETL on upload (Lambda)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Email alert on anomaly (SNS)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LLM summary for managers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CloudWatch alarms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Dashboard login</a:t>
            </a:r>
            <a:endParaRPr lang="en-US" sz="1500" dirty="0"/>
          </a:p>
        </p:txBody>
      </p:sp>
      <p:sp>
        <p:nvSpPr>
          <p:cNvPr id="11" name="card-42"/>
          <p:cNvSpPr/>
          <p:nvPr/>
        </p:nvSpPr>
        <p:spPr>
          <a:xfrm>
            <a:off x="8046720" y="1325880"/>
            <a:ext cx="3474720" cy="384048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pill-43"/>
          <p:cNvSpPr/>
          <p:nvPr/>
        </p:nvSpPr>
        <p:spPr>
          <a:xfrm>
            <a:off x="8321040" y="1600200"/>
            <a:ext cx="1828800" cy="347472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-44"/>
          <p:cNvSpPr txBox="1"/>
          <p:nvPr/>
        </p:nvSpPr>
        <p:spPr>
          <a:xfrm>
            <a:off x="8321040" y="16002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NOT FOR MVP</a:t>
            </a:r>
            <a:endParaRPr lang="en-US" sz="1200" dirty="0"/>
          </a:p>
        </p:txBody>
      </p:sp>
      <p:sp>
        <p:nvSpPr>
          <p:cNvPr id="14" name="text-45"/>
          <p:cNvSpPr txBox="1"/>
          <p:nvPr/>
        </p:nvSpPr>
        <p:spPr>
          <a:xfrm>
            <a:off x="8321040" y="2240280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Real-time streaming (Kinesis)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PySpark / EMR cluster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Kubernetes, microservices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ML forecasting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Multi-region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on AWS (ap-southeast-2)</a:t>
            </a:r>
            <a:endParaRPr lang="en-US" sz="3600" dirty="0"/>
          </a:p>
        </p:txBody>
      </p:sp>
      <p:sp>
        <p:nvSpPr>
          <p:cNvPr id="3" name="box-46"/>
          <p:cNvSpPr/>
          <p:nvPr/>
        </p:nvSpPr>
        <p:spPr>
          <a:xfrm>
            <a:off x="548640" y="2011680"/>
            <a:ext cx="1783080" cy="1188720"/>
          </a:xfrm>
          <a:prstGeom prst="roundRect">
            <a:avLst>
              <a:gd name="adj" fmla="val 7692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-47"/>
          <p:cNvSpPr txBox="1"/>
          <p:nvPr/>
        </p:nvSpPr>
        <p:spPr>
          <a:xfrm>
            <a:off x="640080" y="221284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Store CSVs</a:t>
            </a:r>
            <a:endParaRPr lang="en-US" sz="1500" dirty="0"/>
          </a:p>
        </p:txBody>
      </p:sp>
      <p:sp>
        <p:nvSpPr>
          <p:cNvPr id="5" name="text-48"/>
          <p:cNvSpPr txBox="1"/>
          <p:nvPr/>
        </p:nvSpPr>
        <p:spPr>
          <a:xfrm>
            <a:off x="640080" y="26517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45 stores, nightly</a:t>
            </a:r>
            <a:endParaRPr lang="en-US" sz="1200" dirty="0"/>
          </a:p>
        </p:txBody>
      </p:sp>
      <p:sp>
        <p:nvSpPr>
          <p:cNvPr id="6" name="box-49"/>
          <p:cNvSpPr/>
          <p:nvPr/>
        </p:nvSpPr>
        <p:spPr>
          <a:xfrm>
            <a:off x="2880360" y="2011680"/>
            <a:ext cx="1783080" cy="1188720"/>
          </a:xfrm>
          <a:prstGeom prst="roundRect">
            <a:avLst>
              <a:gd name="adj" fmla="val 769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-50"/>
          <p:cNvSpPr txBox="1"/>
          <p:nvPr/>
        </p:nvSpPr>
        <p:spPr>
          <a:xfrm>
            <a:off x="2971800" y="221284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Amazon S3</a:t>
            </a:r>
            <a:endParaRPr lang="en-US" sz="1500" dirty="0"/>
          </a:p>
        </p:txBody>
      </p:sp>
      <p:sp>
        <p:nvSpPr>
          <p:cNvPr id="8" name="text-51"/>
          <p:cNvSpPr txBox="1"/>
          <p:nvPr/>
        </p:nvSpPr>
        <p:spPr>
          <a:xfrm>
            <a:off x="2971800" y="26517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raw/ landing zone</a:t>
            </a:r>
            <a:endParaRPr lang="en-US" sz="1200" dirty="0"/>
          </a:p>
        </p:txBody>
      </p:sp>
      <p:sp>
        <p:nvSpPr>
          <p:cNvPr id="9" name="box-52"/>
          <p:cNvSpPr/>
          <p:nvPr/>
        </p:nvSpPr>
        <p:spPr>
          <a:xfrm>
            <a:off x="5212080" y="2011680"/>
            <a:ext cx="1783080" cy="1188720"/>
          </a:xfrm>
          <a:prstGeom prst="roundRect">
            <a:avLst>
              <a:gd name="adj" fmla="val 769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-53"/>
          <p:cNvSpPr txBox="1"/>
          <p:nvPr/>
        </p:nvSpPr>
        <p:spPr>
          <a:xfrm>
            <a:off x="5303520" y="221284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EC2: Python ETL</a:t>
            </a:r>
            <a:endParaRPr lang="en-US" sz="1500" dirty="0"/>
          </a:p>
        </p:txBody>
      </p:sp>
      <p:sp>
        <p:nvSpPr>
          <p:cNvPr id="11" name="text-54"/>
          <p:cNvSpPr txBox="1"/>
          <p:nvPr/>
        </p:nvSpPr>
        <p:spPr>
          <a:xfrm>
            <a:off x="5303520" y="26517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Pandas + NumPy</a:t>
            </a:r>
            <a:endParaRPr lang="en-US" sz="1200" dirty="0"/>
          </a:p>
        </p:txBody>
      </p:sp>
      <p:sp>
        <p:nvSpPr>
          <p:cNvPr id="12" name="box-55"/>
          <p:cNvSpPr/>
          <p:nvPr/>
        </p:nvSpPr>
        <p:spPr>
          <a:xfrm>
            <a:off x="7543800" y="2011680"/>
            <a:ext cx="1783080" cy="1188720"/>
          </a:xfrm>
          <a:prstGeom prst="roundRect">
            <a:avLst>
              <a:gd name="adj" fmla="val 769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-56"/>
          <p:cNvSpPr txBox="1"/>
          <p:nvPr/>
        </p:nvSpPr>
        <p:spPr>
          <a:xfrm>
            <a:off x="7635240" y="221284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Amazon RDS</a:t>
            </a:r>
            <a:endParaRPr lang="en-US" sz="1500" dirty="0"/>
          </a:p>
        </p:txBody>
      </p:sp>
      <p:sp>
        <p:nvSpPr>
          <p:cNvPr id="14" name="text-57"/>
          <p:cNvSpPr txBox="1"/>
          <p:nvPr/>
        </p:nvSpPr>
        <p:spPr>
          <a:xfrm>
            <a:off x="7635240" y="26517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MySQL, private</a:t>
            </a:r>
            <a:endParaRPr lang="en-US" sz="1200" dirty="0"/>
          </a:p>
        </p:txBody>
      </p:sp>
      <p:sp>
        <p:nvSpPr>
          <p:cNvPr id="15" name="box-58"/>
          <p:cNvSpPr/>
          <p:nvPr/>
        </p:nvSpPr>
        <p:spPr>
          <a:xfrm>
            <a:off x="9875520" y="2011680"/>
            <a:ext cx="1783080" cy="1188720"/>
          </a:xfrm>
          <a:prstGeom prst="roundRect">
            <a:avLst>
              <a:gd name="adj" fmla="val 769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text-59"/>
          <p:cNvSpPr txBox="1"/>
          <p:nvPr/>
        </p:nvSpPr>
        <p:spPr>
          <a:xfrm>
            <a:off x="9966960" y="221284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Dashboard</a:t>
            </a:r>
            <a:endParaRPr lang="en-US" sz="1500" dirty="0"/>
          </a:p>
        </p:txBody>
      </p:sp>
      <p:sp>
        <p:nvSpPr>
          <p:cNvPr id="17" name="text-60"/>
          <p:cNvSpPr txBox="1"/>
          <p:nvPr/>
        </p:nvSpPr>
        <p:spPr>
          <a:xfrm>
            <a:off x="9966960" y="26517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Streamlit on EC2</a:t>
            </a:r>
            <a:endParaRPr lang="en-US" sz="1200" dirty="0"/>
          </a:p>
        </p:txBody>
      </p:sp>
      <p:sp>
        <p:nvSpPr>
          <p:cNvPr id="18" name="arrow-61"/>
          <p:cNvSpPr/>
          <p:nvPr/>
        </p:nvSpPr>
        <p:spPr>
          <a:xfrm>
            <a:off x="2331720" y="2606040"/>
            <a:ext cx="548640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9" name="arrow-62"/>
          <p:cNvSpPr/>
          <p:nvPr/>
        </p:nvSpPr>
        <p:spPr>
          <a:xfrm>
            <a:off x="4663440" y="2606040"/>
            <a:ext cx="548640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0" name="arrow-63"/>
          <p:cNvSpPr/>
          <p:nvPr/>
        </p:nvSpPr>
        <p:spPr>
          <a:xfrm>
            <a:off x="6995160" y="2606040"/>
            <a:ext cx="548640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1" name="arrow-64"/>
          <p:cNvSpPr/>
          <p:nvPr/>
        </p:nvSpPr>
        <p:spPr>
          <a:xfrm>
            <a:off x="9326880" y="2606040"/>
            <a:ext cx="548640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2" name="card-65"/>
          <p:cNvSpPr/>
          <p:nvPr/>
        </p:nvSpPr>
        <p:spPr>
          <a:xfrm>
            <a:off x="4160520" y="3886200"/>
            <a:ext cx="242316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-66"/>
          <p:cNvSpPr txBox="1"/>
          <p:nvPr/>
        </p:nvSpPr>
        <p:spPr>
          <a:xfrm>
            <a:off x="4297680" y="40690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S3 rejected/ + reason</a:t>
            </a:r>
            <a:endParaRPr lang="en-US" sz="1300" dirty="0"/>
          </a:p>
        </p:txBody>
      </p:sp>
      <p:sp>
        <p:nvSpPr>
          <p:cNvPr id="24" name="card-67"/>
          <p:cNvSpPr/>
          <p:nvPr/>
        </p:nvSpPr>
        <p:spPr>
          <a:xfrm>
            <a:off x="6812280" y="3886200"/>
            <a:ext cx="242316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-68"/>
          <p:cNvSpPr txBox="1"/>
          <p:nvPr/>
        </p:nvSpPr>
        <p:spPr>
          <a:xfrm>
            <a:off x="6949440" y="40690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etl_audit + anomalies</a:t>
            </a:r>
            <a:endParaRPr lang="en-US" sz="1300" dirty="0"/>
          </a:p>
        </p:txBody>
      </p:sp>
      <p:sp>
        <p:nvSpPr>
          <p:cNvPr id="26" name="arrow-69"/>
          <p:cNvSpPr/>
          <p:nvPr/>
        </p:nvSpPr>
        <p:spPr>
          <a:xfrm>
            <a:off x="5394960" y="3200400"/>
            <a:ext cx="457200" cy="68580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7" name="arrow-70"/>
          <p:cNvSpPr/>
          <p:nvPr/>
        </p:nvSpPr>
        <p:spPr>
          <a:xfrm>
            <a:off x="6309360" y="3200400"/>
            <a:ext cx="1554480" cy="68580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8" name="card-71"/>
          <p:cNvSpPr/>
          <p:nvPr/>
        </p:nvSpPr>
        <p:spPr>
          <a:xfrm>
            <a:off x="548640" y="5074920"/>
            <a:ext cx="260604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-72"/>
          <p:cNvSpPr txBox="1"/>
          <p:nvPr/>
        </p:nvSpPr>
        <p:spPr>
          <a:xfrm>
            <a:off x="731520" y="519379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IAM role</a:t>
            </a:r>
            <a:endParaRPr lang="en-US" sz="1400" dirty="0"/>
          </a:p>
        </p:txBody>
      </p:sp>
      <p:sp>
        <p:nvSpPr>
          <p:cNvPr id="30" name="text-73"/>
          <p:cNvSpPr txBox="1"/>
          <p:nvPr/>
        </p:nvSpPr>
        <p:spPr>
          <a:xfrm>
            <a:off x="731520" y="55321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no keys in code</a:t>
            </a:r>
            <a:endParaRPr lang="en-US" sz="1200" dirty="0"/>
          </a:p>
        </p:txBody>
      </p:sp>
      <p:sp>
        <p:nvSpPr>
          <p:cNvPr id="31" name="card-74"/>
          <p:cNvSpPr/>
          <p:nvPr/>
        </p:nvSpPr>
        <p:spPr>
          <a:xfrm>
            <a:off x="3360420" y="5074920"/>
            <a:ext cx="260604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text-75"/>
          <p:cNvSpPr txBox="1"/>
          <p:nvPr/>
        </p:nvSpPr>
        <p:spPr>
          <a:xfrm>
            <a:off x="3543300" y="519379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Security groups</a:t>
            </a:r>
            <a:endParaRPr lang="en-US" sz="1400" dirty="0"/>
          </a:p>
        </p:txBody>
      </p:sp>
      <p:sp>
        <p:nvSpPr>
          <p:cNvPr id="33" name="text-76"/>
          <p:cNvSpPr txBox="1"/>
          <p:nvPr/>
        </p:nvSpPr>
        <p:spPr>
          <a:xfrm>
            <a:off x="3543300" y="55321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DB reachable only from EC2</a:t>
            </a:r>
            <a:endParaRPr lang="en-US" sz="1200" dirty="0"/>
          </a:p>
        </p:txBody>
      </p:sp>
      <p:sp>
        <p:nvSpPr>
          <p:cNvPr id="34" name="card-77"/>
          <p:cNvSpPr/>
          <p:nvPr/>
        </p:nvSpPr>
        <p:spPr>
          <a:xfrm>
            <a:off x="6172200" y="5074920"/>
            <a:ext cx="260604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5" name="text-78"/>
          <p:cNvSpPr txBox="1"/>
          <p:nvPr/>
        </p:nvSpPr>
        <p:spPr>
          <a:xfrm>
            <a:off x="6355080" y="519379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SSM Parameter Store</a:t>
            </a:r>
            <a:endParaRPr lang="en-US" sz="1400" dirty="0"/>
          </a:p>
        </p:txBody>
      </p:sp>
      <p:sp>
        <p:nvSpPr>
          <p:cNvPr id="36" name="text-79"/>
          <p:cNvSpPr txBox="1"/>
          <p:nvPr/>
        </p:nvSpPr>
        <p:spPr>
          <a:xfrm>
            <a:off x="6355080" y="55321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encrypted DB secret</a:t>
            </a:r>
            <a:endParaRPr lang="en-US" sz="1200" dirty="0"/>
          </a:p>
        </p:txBody>
      </p:sp>
      <p:sp>
        <p:nvSpPr>
          <p:cNvPr id="37" name="card-80"/>
          <p:cNvSpPr/>
          <p:nvPr/>
        </p:nvSpPr>
        <p:spPr>
          <a:xfrm>
            <a:off x="8983980" y="5074920"/>
            <a:ext cx="260604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8" name="text-81"/>
          <p:cNvSpPr txBox="1"/>
          <p:nvPr/>
        </p:nvSpPr>
        <p:spPr>
          <a:xfrm>
            <a:off x="9166860" y="519379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Nightly timer</a:t>
            </a:r>
            <a:endParaRPr lang="en-US" sz="1400" dirty="0"/>
          </a:p>
        </p:txBody>
      </p:sp>
      <p:sp>
        <p:nvSpPr>
          <p:cNvPr id="39" name="text-82"/>
          <p:cNvSpPr txBox="1"/>
          <p:nvPr/>
        </p:nvSpPr>
        <p:spPr>
          <a:xfrm>
            <a:off x="9166860" y="55321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ETL at 02:00</a:t>
            </a:r>
            <a:endParaRPr lang="en-US" sz="1200" dirty="0"/>
          </a:p>
        </p:txBody>
      </p:sp>
      <p:sp>
        <p:nvSpPr>
          <p:cNvPr id="40" name="text-83"/>
          <p:cNvSpPr txBox="1"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Batch pipeline · one EC2 runs ETL and dashboard · RDS never public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ETL turns messy files into trusted data</a:t>
            </a:r>
            <a:endParaRPr lang="en-US" sz="3600" dirty="0"/>
          </a:p>
        </p:txBody>
      </p:sp>
      <p:sp>
        <p:nvSpPr>
          <p:cNvPr id="3" name="num-84"/>
          <p:cNvSpPr/>
          <p:nvPr/>
        </p:nvSpPr>
        <p:spPr>
          <a:xfrm>
            <a:off x="548640" y="13716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-85"/>
          <p:cNvSpPr txBox="1"/>
          <p:nvPr/>
        </p:nvSpPr>
        <p:spPr>
          <a:xfrm>
            <a:off x="54864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-86"/>
          <p:cNvSpPr txBox="1"/>
          <p:nvPr/>
        </p:nvSpPr>
        <p:spPr>
          <a:xfrm>
            <a:off x="1143000" y="1353312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Skip if already loaded</a:t>
            </a:r>
            <a:endParaRPr lang="en-US" sz="1300" dirty="0"/>
          </a:p>
        </p:txBody>
      </p:sp>
      <p:sp>
        <p:nvSpPr>
          <p:cNvPr id="6" name="num-87"/>
          <p:cNvSpPr/>
          <p:nvPr/>
        </p:nvSpPr>
        <p:spPr>
          <a:xfrm>
            <a:off x="2816352" y="13716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-88"/>
          <p:cNvSpPr txBox="1"/>
          <p:nvPr/>
        </p:nvSpPr>
        <p:spPr>
          <a:xfrm>
            <a:off x="2816352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-89"/>
          <p:cNvSpPr txBox="1"/>
          <p:nvPr/>
        </p:nvSpPr>
        <p:spPr>
          <a:xfrm>
            <a:off x="3410712" y="1353312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Read CSV from S3</a:t>
            </a:r>
            <a:endParaRPr lang="en-US" sz="1300" dirty="0"/>
          </a:p>
        </p:txBody>
      </p:sp>
      <p:sp>
        <p:nvSpPr>
          <p:cNvPr id="9" name="num-90"/>
          <p:cNvSpPr/>
          <p:nvPr/>
        </p:nvSpPr>
        <p:spPr>
          <a:xfrm>
            <a:off x="5084064" y="13716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-91"/>
          <p:cNvSpPr txBox="1"/>
          <p:nvPr/>
        </p:nvSpPr>
        <p:spPr>
          <a:xfrm>
            <a:off x="5084064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-92"/>
          <p:cNvSpPr txBox="1"/>
          <p:nvPr/>
        </p:nvSpPr>
        <p:spPr>
          <a:xfrm>
            <a:off x="5678424" y="1353312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Clean &amp; validate</a:t>
            </a:r>
            <a:endParaRPr lang="en-US" sz="1300" dirty="0"/>
          </a:p>
        </p:txBody>
      </p:sp>
      <p:sp>
        <p:nvSpPr>
          <p:cNvPr id="12" name="num-93"/>
          <p:cNvSpPr/>
          <p:nvPr/>
        </p:nvSpPr>
        <p:spPr>
          <a:xfrm>
            <a:off x="7351776" y="13716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-94"/>
          <p:cNvSpPr txBox="1"/>
          <p:nvPr/>
        </p:nvSpPr>
        <p:spPr>
          <a:xfrm>
            <a:off x="7351776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-95"/>
          <p:cNvSpPr txBox="1"/>
          <p:nvPr/>
        </p:nvSpPr>
        <p:spPr>
          <a:xfrm>
            <a:off x="7946136" y="1353312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Save rows + audit in one transaction</a:t>
            </a:r>
            <a:endParaRPr lang="en-US" sz="1300" dirty="0"/>
          </a:p>
        </p:txBody>
      </p:sp>
      <p:sp>
        <p:nvSpPr>
          <p:cNvPr id="15" name="num-96"/>
          <p:cNvSpPr/>
          <p:nvPr/>
        </p:nvSpPr>
        <p:spPr>
          <a:xfrm>
            <a:off x="9619488" y="13716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-97"/>
          <p:cNvSpPr txBox="1"/>
          <p:nvPr/>
        </p:nvSpPr>
        <p:spPr>
          <a:xfrm>
            <a:off x="9619488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-98"/>
          <p:cNvSpPr txBox="1"/>
          <p:nvPr/>
        </p:nvSpPr>
        <p:spPr>
          <a:xfrm>
            <a:off x="10213848" y="1353312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Write rejects with reason</a:t>
            </a:r>
            <a:endParaRPr lang="en-US" sz="1300" dirty="0"/>
          </a:p>
        </p:txBody>
      </p:sp>
      <p:graphicFrame>
        <p:nvGraphicFramePr>
          <p:cNvPr id="8" name="table-9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31720"/>
          <a:ext cx="74066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029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Problem in the data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Our fix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Duplicate rows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drop_duplicates in Pandas + INSERT IGNORE on primary key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 date formats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Try each known format explicitly; unknown = rejected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'  BANANA-dozen '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Normalise name, then match to product master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Missing price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Fill from product master list price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Missing quantity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Reject: we never guess sales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Same file twice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etl_audit table: file name is a primary key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9" name="card-100"/>
          <p:cNvSpPr/>
          <p:nvPr/>
        </p:nvSpPr>
        <p:spPr>
          <a:xfrm>
            <a:off x="8321040" y="2331720"/>
            <a:ext cx="3291840" cy="3520440"/>
          </a:xfrm>
          <a:prstGeom prst="roundRect">
            <a:avLst>
              <a:gd name="adj" fmla="val 222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text-101"/>
          <p:cNvSpPr txBox="1"/>
          <p:nvPr/>
        </p:nvSpPr>
        <p:spPr>
          <a:xfrm>
            <a:off x="8595360" y="25603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Tested on 30 days of messy data</a:t>
            </a:r>
            <a:endParaRPr lang="en-US" sz="1500" dirty="0"/>
          </a:p>
        </p:txBody>
      </p:sp>
      <p:sp>
        <p:nvSpPr>
          <p:cNvPr id="21" name="text-102"/>
          <p:cNvSpPr txBox="1"/>
          <p:nvPr/>
        </p:nvSpPr>
        <p:spPr>
          <a:xfrm>
            <a:off x="8595360" y="3108960"/>
            <a:ext cx="2743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90,386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loaded</a:t>
            </a:r>
            <a:endParaRPr lang="en-US" sz="1500" dirty="0"/>
          </a:p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947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with a reason</a:t>
            </a:r>
            <a:endParaRPr lang="en-US" sz="1500" dirty="0"/>
          </a:p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1,823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removed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choices and why</a:t>
            </a:r>
            <a:endParaRPr lang="en-US" sz="3600" dirty="0"/>
          </a:p>
        </p:txBody>
      </p:sp>
      <p:graphicFrame>
        <p:nvGraphicFramePr>
          <p:cNvPr id="9" name="table-10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377440"/>
                <a:gridCol w="1737360"/>
                <a:gridCol w="51206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Need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Options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Chosen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Why, for this problem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Raw file storage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S3 vs EC2 disk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S3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Cheap, durable, keeps originals for reprocessing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Processing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Pandas vs PySpark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Pandas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~225k rows/day fits in memory; Spark only at ~100x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Run the ETL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Lambda vs EC2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EC2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No 15-min limit or Pandas packaging; also hosts dashboard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Database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RDS MySQL vs DynamoDB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RDS MySQL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Relational data, needs JOIN + GROUP BY reports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Dashboard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Streamlit vs React + API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Streamlit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Python only, built in an hour; Matplotlib for trends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DB secret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Config file vs SSM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SSM SecureString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Encrypted, read by IAM role, never in code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ext-104"/>
          <p:cNvSpPr txBox="1"/>
          <p:nvPr/>
        </p:nvSpPr>
        <p:spPr>
          <a:xfrm>
            <a:off x="548640" y="5532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Principle: the simplest option that meets the requirement, with a clear path to scale.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Database: a star schema for fast reports</a:t>
            </a:r>
            <a:endParaRPr lang="en-US" sz="3600" dirty="0"/>
          </a:p>
        </p:txBody>
      </p:sp>
      <p:sp>
        <p:nvSpPr>
          <p:cNvPr id="3" name="entity-105"/>
          <p:cNvSpPr/>
          <p:nvPr/>
        </p:nvSpPr>
        <p:spPr>
          <a:xfrm>
            <a:off x="548640" y="1463040"/>
            <a:ext cx="2743200" cy="1700784"/>
          </a:xfrm>
          <a:prstGeom prst="roundRect">
            <a:avLst>
              <a:gd name="adj" fmla="val 3226"/>
            </a:avLst>
          </a:prstGeom>
          <a:solidFill>
            <a:schemeClr val="bg1"/>
          </a:solidFill>
          <a:ln w="19050">
            <a:solidFill>
              <a:srgbClr val="5B6B63"/>
            </a:solidFill>
            <a:prstDash val="solid"/>
          </a:ln>
        </p:spPr>
      </p:sp>
      <p:sp>
        <p:nvSpPr>
          <p:cNvPr id="4" name="entity-head-106"/>
          <p:cNvSpPr/>
          <p:nvPr/>
        </p:nvSpPr>
        <p:spPr>
          <a:xfrm>
            <a:off x="566928" y="1481328"/>
            <a:ext cx="2706624" cy="384048"/>
          </a:xfrm>
          <a:prstGeom prst="rect">
            <a:avLst/>
          </a:prstGeom>
          <a:solidFill>
            <a:srgbClr val="5B6B63"/>
          </a:solidFill>
          <a:ln w="12700">
            <a:solidFill>
              <a:srgbClr val="5B6B63"/>
            </a:solidFill>
            <a:prstDash val="solid"/>
          </a:ln>
        </p:spPr>
      </p:sp>
      <p:sp>
        <p:nvSpPr>
          <p:cNvPr id="5" name="text-107"/>
          <p:cNvSpPr txBox="1"/>
          <p:nvPr/>
        </p:nvSpPr>
        <p:spPr>
          <a:xfrm>
            <a:off x="685800" y="15087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dim_store</a:t>
            </a:r>
            <a:endParaRPr lang="en-US" sz="1400" dirty="0"/>
          </a:p>
        </p:txBody>
      </p:sp>
      <p:sp>
        <p:nvSpPr>
          <p:cNvPr id="6" name="text-108"/>
          <p:cNvSpPr txBox="1"/>
          <p:nvPr/>
        </p:nvSpPr>
        <p:spPr>
          <a:xfrm>
            <a:off x="685800" y="1938528"/>
            <a:ext cx="246888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store_id  PK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city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region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store_manager</a:t>
            </a:r>
            <a:endParaRPr lang="en-US" sz="1200" dirty="0"/>
          </a:p>
        </p:txBody>
      </p:sp>
      <p:sp>
        <p:nvSpPr>
          <p:cNvPr id="7" name="entity-109"/>
          <p:cNvSpPr/>
          <p:nvPr/>
        </p:nvSpPr>
        <p:spPr>
          <a:xfrm>
            <a:off x="548640" y="3657600"/>
            <a:ext cx="2743200" cy="1700784"/>
          </a:xfrm>
          <a:prstGeom prst="roundRect">
            <a:avLst>
              <a:gd name="adj" fmla="val 3226"/>
            </a:avLst>
          </a:prstGeom>
          <a:solidFill>
            <a:schemeClr val="bg1"/>
          </a:solidFill>
          <a:ln w="19050">
            <a:solidFill>
              <a:srgbClr val="5B6B63"/>
            </a:solidFill>
            <a:prstDash val="solid"/>
          </a:ln>
        </p:spPr>
      </p:sp>
      <p:sp>
        <p:nvSpPr>
          <p:cNvPr id="8" name="entity-head-110"/>
          <p:cNvSpPr/>
          <p:nvPr/>
        </p:nvSpPr>
        <p:spPr>
          <a:xfrm>
            <a:off x="566928" y="3675888"/>
            <a:ext cx="2706624" cy="384048"/>
          </a:xfrm>
          <a:prstGeom prst="rect">
            <a:avLst/>
          </a:prstGeom>
          <a:solidFill>
            <a:srgbClr val="5B6B63"/>
          </a:solidFill>
          <a:ln w="12700">
            <a:solidFill>
              <a:srgbClr val="5B6B63"/>
            </a:solidFill>
            <a:prstDash val="solid"/>
          </a:ln>
        </p:spPr>
      </p:sp>
      <p:sp>
        <p:nvSpPr>
          <p:cNvPr id="9" name="text-111"/>
          <p:cNvSpPr txBox="1"/>
          <p:nvPr/>
        </p:nvSpPr>
        <p:spPr>
          <a:xfrm>
            <a:off x="685800" y="37033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dim_product</a:t>
            </a:r>
            <a:endParaRPr lang="en-US" sz="1400" dirty="0"/>
          </a:p>
        </p:txBody>
      </p:sp>
      <p:sp>
        <p:nvSpPr>
          <p:cNvPr id="10" name="text-112"/>
          <p:cNvSpPr txBox="1"/>
          <p:nvPr/>
        </p:nvSpPr>
        <p:spPr>
          <a:xfrm>
            <a:off x="685800" y="4133088"/>
            <a:ext cx="246888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product_id  PK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product_name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category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list_price</a:t>
            </a:r>
            <a:endParaRPr lang="en-US" sz="1200" dirty="0"/>
          </a:p>
        </p:txBody>
      </p:sp>
      <p:sp>
        <p:nvSpPr>
          <p:cNvPr id="11" name="entity-113"/>
          <p:cNvSpPr/>
          <p:nvPr/>
        </p:nvSpPr>
        <p:spPr>
          <a:xfrm>
            <a:off x="4114800" y="1463040"/>
            <a:ext cx="3108960" cy="2944368"/>
          </a:xfrm>
          <a:prstGeom prst="roundRect">
            <a:avLst>
              <a:gd name="adj" fmla="val 1863"/>
            </a:avLst>
          </a:prstGeom>
          <a:solidFill>
            <a:schemeClr val="bg1"/>
          </a:solidFill>
          <a:ln w="19050">
            <a:solidFill>
              <a:srgbClr val="1F4D3A"/>
            </a:solidFill>
            <a:prstDash val="solid"/>
          </a:ln>
        </p:spPr>
      </p:sp>
      <p:sp>
        <p:nvSpPr>
          <p:cNvPr id="12" name="entity-head-114"/>
          <p:cNvSpPr/>
          <p:nvPr/>
        </p:nvSpPr>
        <p:spPr>
          <a:xfrm>
            <a:off x="4133088" y="1481328"/>
            <a:ext cx="3072384" cy="384048"/>
          </a:xfrm>
          <a:prstGeom prst="rect">
            <a:avLst/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</p:sp>
      <p:sp>
        <p:nvSpPr>
          <p:cNvPr id="13" name="text-115"/>
          <p:cNvSpPr txBox="1"/>
          <p:nvPr/>
        </p:nvSpPr>
        <p:spPr>
          <a:xfrm>
            <a:off x="4251960" y="150876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fact_sales</a:t>
            </a:r>
            <a:endParaRPr lang="en-US" sz="1400" dirty="0"/>
          </a:p>
        </p:txBody>
      </p:sp>
      <p:sp>
        <p:nvSpPr>
          <p:cNvPr id="14" name="text-116"/>
          <p:cNvSpPr txBox="1"/>
          <p:nvPr/>
        </p:nvSpPr>
        <p:spPr>
          <a:xfrm>
            <a:off x="4251960" y="1938528"/>
            <a:ext cx="283464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transaction_id  PK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store_id  FK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product_id  FK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sale_date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quantity, unit_price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amount (precomputed)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source_file (lineage)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INDEX (sale_date, store_id)</a:t>
            </a:r>
            <a:endParaRPr lang="en-US" sz="1200" dirty="0"/>
          </a:p>
        </p:txBody>
      </p:sp>
      <p:sp>
        <p:nvSpPr>
          <p:cNvPr id="15" name="arrow-117"/>
          <p:cNvSpPr/>
          <p:nvPr/>
        </p:nvSpPr>
        <p:spPr>
          <a:xfrm flipV="1">
            <a:off x="3291840" y="2194560"/>
            <a:ext cx="822960" cy="18288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6" name="arrow-118"/>
          <p:cNvSpPr/>
          <p:nvPr/>
        </p:nvSpPr>
        <p:spPr>
          <a:xfrm>
            <a:off x="3291840" y="3566160"/>
            <a:ext cx="822960" cy="64008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7" name="entity-119"/>
          <p:cNvSpPr/>
          <p:nvPr/>
        </p:nvSpPr>
        <p:spPr>
          <a:xfrm>
            <a:off x="7863840" y="1463040"/>
            <a:ext cx="3749040" cy="1078992"/>
          </a:xfrm>
          <a:prstGeom prst="roundRect">
            <a:avLst>
              <a:gd name="adj" fmla="val 5085"/>
            </a:avLst>
          </a:prstGeom>
          <a:solidFill>
            <a:schemeClr val="bg1"/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18" name="entity-head-120"/>
          <p:cNvSpPr/>
          <p:nvPr/>
        </p:nvSpPr>
        <p:spPr>
          <a:xfrm>
            <a:off x="7882128" y="1481328"/>
            <a:ext cx="3712464" cy="384048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9" name="text-121"/>
          <p:cNvSpPr txBox="1"/>
          <p:nvPr/>
        </p:nvSpPr>
        <p:spPr>
          <a:xfrm>
            <a:off x="8001000" y="15087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sales_anomaly</a:t>
            </a:r>
            <a:endParaRPr lang="en-US" sz="1400" dirty="0"/>
          </a:p>
        </p:txBody>
      </p:sp>
      <p:sp>
        <p:nvSpPr>
          <p:cNvPr id="20" name="text-122"/>
          <p:cNvSpPr txBox="1"/>
          <p:nvPr/>
        </p:nvSpPr>
        <p:spPr>
          <a:xfrm>
            <a:off x="8001000" y="1938528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store_id, sale_date  PK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revenue, expected, z_score</a:t>
            </a:r>
            <a:endParaRPr lang="en-US" sz="1200" dirty="0"/>
          </a:p>
        </p:txBody>
      </p:sp>
      <p:sp>
        <p:nvSpPr>
          <p:cNvPr id="21" name="entity-123"/>
          <p:cNvSpPr/>
          <p:nvPr/>
        </p:nvSpPr>
        <p:spPr>
          <a:xfrm>
            <a:off x="7863840" y="3063240"/>
            <a:ext cx="3749040" cy="1078992"/>
          </a:xfrm>
          <a:prstGeom prst="roundRect">
            <a:avLst>
              <a:gd name="adj" fmla="val 5085"/>
            </a:avLst>
          </a:prstGeom>
          <a:solidFill>
            <a:schemeClr val="bg1"/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22" name="entity-head-124"/>
          <p:cNvSpPr/>
          <p:nvPr/>
        </p:nvSpPr>
        <p:spPr>
          <a:xfrm>
            <a:off x="7882128" y="3081528"/>
            <a:ext cx="3712464" cy="384048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3" name="text-125"/>
          <p:cNvSpPr txBox="1"/>
          <p:nvPr/>
        </p:nvSpPr>
        <p:spPr>
          <a:xfrm>
            <a:off x="8001000" y="31089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etl_audit</a:t>
            </a:r>
            <a:endParaRPr lang="en-US" sz="1400" dirty="0"/>
          </a:p>
        </p:txBody>
      </p:sp>
      <p:sp>
        <p:nvSpPr>
          <p:cNvPr id="24" name="text-126"/>
          <p:cNvSpPr txBox="1"/>
          <p:nvPr/>
        </p:nvSpPr>
        <p:spPr>
          <a:xfrm>
            <a:off x="8001000" y="3538728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file_name  PK  (blocks reloads)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rows_read / loaded / rejected</a:t>
            </a:r>
            <a:endParaRPr lang="en-US" sz="1200" dirty="0"/>
          </a:p>
        </p:txBody>
      </p:sp>
      <p:sp>
        <p:nvSpPr>
          <p:cNvPr id="25" name="text-127"/>
          <p:cNvSpPr txBox="1"/>
          <p:nvPr/>
        </p:nvSpPr>
        <p:spPr>
          <a:xfrm>
            <a:off x="7863840" y="466344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DECIMAL for money, never FLOAT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Primary key blocks duplicate sales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Index matches the dashboard's filter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Flagging unusual sales: per-store z-score</a:t>
            </a:r>
            <a:endParaRPr lang="en-US" sz="3600" dirty="0"/>
          </a:p>
        </p:txBody>
      </p:sp>
      <p:graphicFrame>
        <p:nvGraphicFramePr>
          <p:cNvPr id="3" name="anomaly-chart" descr=""/>
          <p:cNvGraphicFramePr/>
          <p:nvPr/>
        </p:nvGraphicFramePr>
        <p:xfrm>
          <a:off x="548640" y="1325880"/>
          <a:ext cx="67665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d-128"/>
          <p:cNvSpPr/>
          <p:nvPr/>
        </p:nvSpPr>
        <p:spPr>
          <a:xfrm>
            <a:off x="4023360" y="1828800"/>
            <a:ext cx="173736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-129"/>
          <p:cNvSpPr txBox="1"/>
          <p:nvPr/>
        </p:nvSpPr>
        <p:spPr>
          <a:xfrm>
            <a:off x="4069080" y="19202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+182% vs normal</a:t>
            </a:r>
            <a:endParaRPr lang="en-US" sz="1400" dirty="0"/>
          </a:p>
        </p:txBody>
      </p:sp>
      <p:sp>
        <p:nvSpPr>
          <p:cNvPr id="6" name="card-130"/>
          <p:cNvSpPr/>
          <p:nvPr/>
        </p:nvSpPr>
        <p:spPr>
          <a:xfrm>
            <a:off x="7680960" y="1325880"/>
            <a:ext cx="3931920" cy="4480560"/>
          </a:xfrm>
          <a:prstGeom prst="roundRect">
            <a:avLst>
              <a:gd name="adj" fmla="val 186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-131"/>
          <p:cNvSpPr txBox="1"/>
          <p:nvPr/>
        </p:nvSpPr>
        <p:spPr>
          <a:xfrm>
            <a:off x="7955280" y="15087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The rule</a:t>
            </a:r>
            <a:endParaRPr lang="en-US" sz="1800" dirty="0"/>
          </a:p>
        </p:txBody>
      </p:sp>
      <p:sp>
        <p:nvSpPr>
          <p:cNvPr id="8" name="text-132"/>
          <p:cNvSpPr txBox="1"/>
          <p:nvPr/>
        </p:nvSpPr>
        <p:spPr>
          <a:xfrm>
            <a:off x="7955280" y="192024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Expected = this store's mean of the previous 14 days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z = (today - expected) / std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Flag if |z| &gt; 3 AND at least 30% away from normal</a:t>
            </a:r>
            <a:endParaRPr lang="en-US" sz="1500" dirty="0"/>
          </a:p>
        </p:txBody>
      </p:sp>
      <p:sp>
        <p:nvSpPr>
          <p:cNvPr id="9" name="text-133"/>
          <p:cNvSpPr txBox="1"/>
          <p:nvPr/>
        </p:nvSpPr>
        <p:spPr>
          <a:xfrm>
            <a:off x="7955280" y="3840480"/>
            <a:ext cx="338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Why the 30% rule: a store with very steady history has tiny std, so even a 1% wobble scores high. Our test caught this; the rule keeps alerts meaningful.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today, and how it scales tomorrow</a:t>
            </a:r>
            <a:endParaRPr lang="en-US" sz="3600" dirty="0"/>
          </a:p>
        </p:txBody>
      </p:sp>
      <p:sp>
        <p:nvSpPr>
          <p:cNvPr id="3" name="card-134"/>
          <p:cNvSpPr/>
          <p:nvPr/>
        </p:nvSpPr>
        <p:spPr>
          <a:xfrm>
            <a:off x="548640" y="1325880"/>
            <a:ext cx="5394960" cy="4206240"/>
          </a:xfrm>
          <a:prstGeom prst="roundRect">
            <a:avLst>
              <a:gd name="adj" fmla="val 173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-135"/>
          <p:cNvSpPr txBox="1"/>
          <p:nvPr/>
        </p:nvSpPr>
        <p:spPr>
          <a:xfrm>
            <a:off x="822960" y="15544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Security in the MVP</a:t>
            </a:r>
            <a:endParaRPr lang="en-US" sz="1800" dirty="0"/>
          </a:p>
        </p:txBody>
      </p:sp>
      <p:sp>
        <p:nvSpPr>
          <p:cNvPr id="5" name="text-136"/>
          <p:cNvSpPr txBox="1"/>
          <p:nvPr/>
        </p:nvSpPr>
        <p:spPr>
          <a:xfrm>
            <a:off x="822960" y="210312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S3: public access blocked, versioned, encrypted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IAM role: only this bucket and this secret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RDS: not public; port 3306 open only to the app server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DB connection encrypted (SSL/TLS)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Password generated by AWS, stored in SSM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No SSH: admin via Session Manager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Dashboard open only to our IP</a:t>
            </a:r>
            <a:endParaRPr lang="en-US" sz="1500" dirty="0"/>
          </a:p>
        </p:txBody>
      </p:sp>
      <p:graphicFrame>
        <p:nvGraphicFramePr>
          <p:cNvPr id="12" name="table-1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325880"/>
          <a:ext cx="53035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9260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Today (MVP)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At ~100x scale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Pandas on EC2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PySpark on Glue / EMR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CSV in S3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Parquet, partitioned by date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RDS for reports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Athena / Redshift for analytics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Nightly systemd timer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S3 event -&gt; Lambda / Step Functions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One EC2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Load balancer + auto scaling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7" name="text-138"/>
          <p:cNvSpPr txBox="1"/>
          <p:nvPr/>
        </p:nvSpPr>
        <p:spPr>
          <a:xfrm>
            <a:off x="6309360" y="5029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S3-first design means storage never changes when we scale.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roadmap and team split</a:t>
            </a:r>
            <a:endParaRPr lang="en-US" sz="3600" dirty="0"/>
          </a:p>
        </p:txBody>
      </p:sp>
      <p:graphicFrame>
        <p:nvGraphicFramePr>
          <p:cNvPr id="13" name="table-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377440"/>
                <a:gridCol w="2286000"/>
                <a:gridCol w="2286000"/>
                <a:gridCol w="25603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Time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P1: Cloud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P2: ETL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P3: Database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P4: Dashboard &amp; tests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11:30-12:30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S3, IAM, EC2, RDS, SGs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Read + clean locally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Schema, load masters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Messy test data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12:30-14:00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Connect EC2-S3-RDS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ETL S3 -&gt; RDS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Report SQL queries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Dashboard skeleton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14:00-15:30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Logs, deploy dashboard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Anomaly logic, audit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Indexes, verify counts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Charts + test cases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15:30-16:30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Freeze, screenshots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Bug fixes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Demo queries ready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Rehearse demo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card-140"/>
          <p:cNvSpPr/>
          <p:nvPr/>
        </p:nvSpPr>
        <p:spPr>
          <a:xfrm>
            <a:off x="548640" y="4526280"/>
            <a:ext cx="347472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-141"/>
          <p:cNvSpPr txBox="1"/>
          <p:nvPr/>
        </p:nvSpPr>
        <p:spPr>
          <a:xfrm>
            <a:off x="777240" y="46817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Data contract first</a:t>
            </a:r>
            <a:endParaRPr lang="en-US" sz="1500" dirty="0"/>
          </a:p>
        </p:txBody>
      </p:sp>
      <p:sp>
        <p:nvSpPr>
          <p:cNvPr id="6" name="text-142"/>
          <p:cNvSpPr txBox="1"/>
          <p:nvPr/>
        </p:nvSpPr>
        <p:spPr>
          <a:xfrm>
            <a:off x="777240" y="50749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File paths, columns and table names agreed before coding</a:t>
            </a:r>
            <a:endParaRPr lang="en-US" sz="1400" dirty="0"/>
          </a:p>
        </p:txBody>
      </p:sp>
      <p:sp>
        <p:nvSpPr>
          <p:cNvPr id="7" name="card-143"/>
          <p:cNvSpPr/>
          <p:nvPr/>
        </p:nvSpPr>
        <p:spPr>
          <a:xfrm>
            <a:off x="4297680" y="4526280"/>
            <a:ext cx="347472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-144"/>
          <p:cNvSpPr txBox="1"/>
          <p:nvPr/>
        </p:nvSpPr>
        <p:spPr>
          <a:xfrm>
            <a:off x="4526280" y="46817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Thin, then thick</a:t>
            </a:r>
            <a:endParaRPr lang="en-US" sz="1500" dirty="0"/>
          </a:p>
        </p:txBody>
      </p:sp>
      <p:sp>
        <p:nvSpPr>
          <p:cNvPr id="9" name="text-145"/>
          <p:cNvSpPr txBox="1"/>
          <p:nvPr/>
        </p:nvSpPr>
        <p:spPr>
          <a:xfrm>
            <a:off x="4526280" y="50749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End-to-end pipeline working by 14:00, then improve</a:t>
            </a:r>
            <a:endParaRPr lang="en-US" sz="1400" dirty="0"/>
          </a:p>
        </p:txBody>
      </p:sp>
      <p:sp>
        <p:nvSpPr>
          <p:cNvPr id="10" name="card-146"/>
          <p:cNvSpPr/>
          <p:nvPr/>
        </p:nvSpPr>
        <p:spPr>
          <a:xfrm>
            <a:off x="8046720" y="4526280"/>
            <a:ext cx="347472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-147"/>
          <p:cNvSpPr txBox="1"/>
          <p:nvPr/>
        </p:nvSpPr>
        <p:spPr>
          <a:xfrm>
            <a:off x="8275320" y="46817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Everyone explains all</a:t>
            </a:r>
            <a:endParaRPr lang="en-US" sz="1500" dirty="0"/>
          </a:p>
        </p:txBody>
      </p:sp>
      <p:sp>
        <p:nvSpPr>
          <p:cNvPr id="12" name="text-148"/>
          <p:cNvSpPr txBox="1"/>
          <p:nvPr/>
        </p:nvSpPr>
        <p:spPr>
          <a:xfrm>
            <a:off x="8275320" y="50749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Each member can walk the full architecture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Testing, risks and how we will demo</a:t>
            </a:r>
            <a:endParaRPr lang="en-US" sz="3600" dirty="0"/>
          </a:p>
        </p:txBody>
      </p:sp>
      <p:sp>
        <p:nvSpPr>
          <p:cNvPr id="3" name="card-149"/>
          <p:cNvSpPr/>
          <p:nvPr/>
        </p:nvSpPr>
        <p:spPr>
          <a:xfrm>
            <a:off x="548640" y="1325880"/>
            <a:ext cx="3474720" cy="402336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pill-150"/>
          <p:cNvSpPr/>
          <p:nvPr/>
        </p:nvSpPr>
        <p:spPr>
          <a:xfrm>
            <a:off x="822960" y="1600200"/>
            <a:ext cx="2286000" cy="3474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-151"/>
          <p:cNvSpPr txBox="1"/>
          <p:nvPr/>
        </p:nvSpPr>
        <p:spPr>
          <a:xfrm>
            <a:off x="822960" y="16002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Testing</a:t>
            </a:r>
            <a:endParaRPr lang="en-US" sz="1200" dirty="0"/>
          </a:p>
        </p:txBody>
      </p:sp>
      <p:sp>
        <p:nvSpPr>
          <p:cNvPr id="6" name="text-152"/>
          <p:cNvSpPr txBox="1"/>
          <p:nvPr/>
        </p:nvSpPr>
        <p:spPr>
          <a:xfrm>
            <a:off x="822960" y="2240280"/>
            <a:ext cx="3017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Happy path: valid row loads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Duplicates, 3 date formats, messy names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Missing qty / bad date rejected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Spike, drop, steady store, short history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S3 code tested with mocked AWS</a:t>
            </a:r>
            <a:endParaRPr lang="en-US" sz="1500" dirty="0"/>
          </a:p>
        </p:txBody>
      </p:sp>
      <p:sp>
        <p:nvSpPr>
          <p:cNvPr id="7" name="card-153"/>
          <p:cNvSpPr/>
          <p:nvPr/>
        </p:nvSpPr>
        <p:spPr>
          <a:xfrm>
            <a:off x="4297680" y="1325880"/>
            <a:ext cx="3474720" cy="402336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pill-154"/>
          <p:cNvSpPr/>
          <p:nvPr/>
        </p:nvSpPr>
        <p:spPr>
          <a:xfrm>
            <a:off x="4572000" y="1600200"/>
            <a:ext cx="2286000" cy="34747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text-155"/>
          <p:cNvSpPr txBox="1"/>
          <p:nvPr/>
        </p:nvSpPr>
        <p:spPr>
          <a:xfrm>
            <a:off x="4572000" y="16002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Risks &amp; fallbacks</a:t>
            </a:r>
            <a:endParaRPr lang="en-US" sz="1200" dirty="0"/>
          </a:p>
        </p:txBody>
      </p:sp>
      <p:sp>
        <p:nvSpPr>
          <p:cNvPr id="10" name="text-156"/>
          <p:cNvSpPr txBox="1"/>
          <p:nvPr/>
        </p:nvSpPr>
        <p:spPr>
          <a:xfrm>
            <a:off x="4572000" y="2240280"/>
            <a:ext cx="3017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RDS slow or blocked -&gt; MySQL on EC2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Too little history -&gt; state it, use 30-day sample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AWS issue &gt; 20 min -&gt; simpler service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Live demo fails -&gt; recorded screenshots</a:t>
            </a:r>
            <a:endParaRPr lang="en-US" sz="1500" dirty="0"/>
          </a:p>
        </p:txBody>
      </p:sp>
      <p:sp>
        <p:nvSpPr>
          <p:cNvPr id="11" name="card-157"/>
          <p:cNvSpPr/>
          <p:nvPr/>
        </p:nvSpPr>
        <p:spPr>
          <a:xfrm>
            <a:off x="8046720" y="1325880"/>
            <a:ext cx="3474720" cy="402336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pill-158"/>
          <p:cNvSpPr/>
          <p:nvPr/>
        </p:nvSpPr>
        <p:spPr>
          <a:xfrm>
            <a:off x="8321040" y="1600200"/>
            <a:ext cx="2286000" cy="34747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-159"/>
          <p:cNvSpPr txBox="1"/>
          <p:nvPr/>
        </p:nvSpPr>
        <p:spPr>
          <a:xfrm>
            <a:off x="8321040" y="16002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Demo flow (20 min)</a:t>
            </a:r>
            <a:endParaRPr lang="en-US" sz="1200" dirty="0"/>
          </a:p>
        </p:txBody>
      </p:sp>
      <p:sp>
        <p:nvSpPr>
          <p:cNvPr id="14" name="text-160"/>
          <p:cNvSpPr txBox="1"/>
          <p:nvPr/>
        </p:nvSpPr>
        <p:spPr>
          <a:xfrm>
            <a:off x="8321040" y="2240280"/>
            <a:ext cx="3017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Problem and architecture (5)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Upload a messy file to S3 (live)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Run ETL, show audit + rejects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Dashboard updates, alert appears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Scale, security, Q&amp;A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are asking for sign-off on the MVP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2044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S3 -&gt; Pandas ETL on EC2 -&gt; RDS MySQL -&gt; dashboard with anomaly alerts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Questions and feedback welcome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reshMart Market">
  <a:themeElements>
    <a:clrScheme name="FreshMart Market">
      <a:dk1>
        <a:srgbClr val="1B2A22"/>
      </a:dk1>
      <a:lt1>
        <a:srgbClr val="FFFFFF"/>
      </a:lt1>
      <a:dk2>
        <a:srgbClr val="1F4D3A"/>
      </a:dk2>
      <a:lt2>
        <a:srgbClr val="EEF4EC"/>
      </a:lt2>
      <a:accent1>
        <a:srgbClr val="2E7D4F"/>
      </a:accent1>
      <a:accent2>
        <a:srgbClr val="8CC63F"/>
      </a:accent2>
      <a:accent3>
        <a:srgbClr val="E8A317"/>
      </a:accent3>
      <a:accent4>
        <a:srgbClr val="C0392B"/>
      </a:accent4>
      <a:accent5>
        <a:srgbClr val="5B6B63"/>
      </a:accent5>
      <a:accent6>
        <a:srgbClr val="D6E6D3"/>
      </a:accent6>
      <a:hlink>
        <a:srgbClr val="2E7D4F"/>
      </a:hlink>
      <a:folHlink>
        <a:srgbClr val="5B6B63"/>
      </a:folHlink>
    </a:clrScheme>
    <a:fontScheme name="FreshMart Marke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FreshMart Store Performance Platform - Sprint 0 Design</dc:title>
  <dc:subject>PptxGenJS Presentation</dc:subject>
  <dc:creator>NSUT Team</dc:creator>
  <cp:lastModifiedBy>NSUT Team</cp:lastModifiedBy>
  <cp:revision>1</cp:revision>
  <dcterms:created xsi:type="dcterms:W3CDTF">2026-10-04T23:00:22Z</dcterms:created>
  <dcterms:modified xsi:type="dcterms:W3CDTF">2026-10-04T23:00:22Z</dcterms:modified>
</cp:coreProperties>
</file>